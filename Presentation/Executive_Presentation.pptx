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4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143000"/>
            <a:ext cx="1051560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1">
                <a:solidFill>
                  <a:srgbClr val="2F5B7D"/>
                </a:solidFill>
                <a:latin typeface="Arial"/>
              </a:rPr>
              <a:t>SWIFTLOG LOGISTICS ANALYTICS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332720" cy="11887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3100" b="1">
                <a:solidFill>
                  <a:srgbClr val="232323"/>
                </a:solidFill>
                <a:latin typeface="Arial"/>
              </a:rPr>
              <a:t>Business performance analysis
and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3429000"/>
            <a:ext cx="89611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700" b="0">
                <a:solidFill>
                  <a:srgbClr val="373737"/>
                </a:solidFill>
                <a:latin typeface="Arial"/>
              </a:rPr>
              <a:t>A review of customer, product, inventory, warehouse, shipment and returns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5943600"/>
            <a:ext cx="9601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0">
                <a:solidFill>
                  <a:srgbClr val="696969"/>
                </a:solidFill>
                <a:latin typeface="Arial"/>
              </a:rPr>
              <a:t>Prepared as part of the Logistics Analytics &amp; Business Intelligence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1. What I wanted to understand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The analysis focuses on operational performance and areas where the business could improve.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5120640" cy="3383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5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 How well is SwiftLog delivering orders?</a:t>
            </a:r>
          </a:p>
          <a:p>
            <a:pPr>
              <a:spcAft>
                <a:spcPts val="15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 Are delays concentrated in particular warehouses or locations?</a:t>
            </a:r>
          </a:p>
          <a:p>
            <a:pPr>
              <a:spcAft>
                <a:spcPts val="15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 What are the main reasons customers return orders?</a:t>
            </a:r>
          </a:p>
          <a:p>
            <a:pPr>
              <a:spcAft>
                <a:spcPts val="15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 Which customers, products and categories contribute most to revenue?</a:t>
            </a:r>
          </a:p>
          <a:p>
            <a:pPr>
              <a:spcAft>
                <a:spcPts val="15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t>•  What can the available inventory and warehouse data tell 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480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Data 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76272"/>
            <a:ext cx="448056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0">
                <a:solidFill>
                  <a:srgbClr val="373737"/>
                </a:solidFill>
                <a:latin typeface="Arial"/>
              </a:rPr>
              <a:t>The project combines 11 datasets covering orders, customers, order items, products, warehouses, inventory, shipments, delivery performance, suppliers, employees and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840480"/>
            <a:ext cx="44805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Scope note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187952"/>
            <a:ext cx="448056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0">
                <a:solidFill>
                  <a:srgbClr val="373737"/>
                </a:solidFill>
                <a:latin typeface="Arial"/>
              </a:rPr>
              <a:t>The supplied order data covers 2026. Revenue currency is not specified, and some operational measures are unavailable.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2. Overall business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The executive dashboard brings the main performance measures together in one view.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737360"/>
            <a:ext cx="6583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3520440"/>
            <a:ext cx="61264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0">
                <a:solidFill>
                  <a:srgbClr val="696969"/>
                </a:solidFill>
                <a:latin typeface="Arial"/>
              </a:rPr>
              <a:t>Insert your Executive Dashboard screenshot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26679" y="1828800"/>
            <a:ext cx="3383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Overall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304288"/>
            <a:ext cx="3429000" cy="21945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0">
                <a:solidFill>
                  <a:srgbClr val="373737"/>
                </a:solidFill>
                <a:latin typeface="Arial"/>
              </a:rPr>
              <a:t>The dataset covers 5,000 orders and shipments, 1,000 customers and 250 products, with recorded revenue of about 21.67M. The executive dashboard brings these measures together with delivery outcomes to provide a high-level view of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4434840"/>
            <a:ext cx="338328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Initial finding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4892040"/>
            <a:ext cx="34290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0">
                <a:solidFill>
                  <a:srgbClr val="373737"/>
                </a:solidFill>
                <a:latin typeface="Arial"/>
              </a:rPr>
              <a:t>Delivery performance stands out as an area requiring further investigation. The next slides examine where delays occur and how they relate to returns.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E3D0C5-3F14-C9F7-3CE5-A644CDF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39" y="1748333"/>
            <a:ext cx="6583681" cy="39209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3. Delivery performance is the main concern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The status field classifies almost two-thirds of shipments as delayed.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3108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696969"/>
                </a:solidFill>
                <a:latin typeface="Arial"/>
              </a:rPr>
              <a:t>Delayed shipments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76272"/>
            <a:ext cx="310896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A63F37"/>
                </a:solidFill>
                <a:latin typeface="Arial"/>
              </a:rPr>
              <a:t>3,186  (63.72%)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3108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696969"/>
                </a:solidFill>
                <a:latin typeface="Arial"/>
              </a:rPr>
              <a:t>On-time shipments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19272"/>
            <a:ext cx="3108960" cy="5943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F5B7D"/>
                </a:solidFill>
                <a:latin typeface="Arial"/>
              </a:rPr>
              <a:t>1,814  (36.28%)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60520"/>
            <a:ext cx="31089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696969"/>
                </a:solidFill>
                <a:latin typeface="Arial"/>
              </a:rPr>
              <a:t>Average recorded delay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98848"/>
            <a:ext cx="310896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300" b="1">
                <a:solidFill>
                  <a:srgbClr val="232323"/>
                </a:solidFill>
                <a:latin typeface="Arial"/>
              </a:rPr>
              <a:t>3.57 days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5867" y="2039112"/>
            <a:ext cx="2628240" cy="254386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5669280"/>
            <a:ext cx="101498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/>
              <a:t>Interpretation: Nearly two-thirds of shipments (63.72%) were classified as delayed, making delivery reliability the most significant operational issue identified. Improving delivery performance should be management’s highest immediate priority.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5AEAF6-0569-ACDA-3B57-CA4E1B041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352" y="2182563"/>
            <a:ext cx="2343270" cy="227341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4. Warehouse performance is not uniform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W05, W09 and W03 have the highest recorded delayed-shipment rates in the comparison.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W05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28800"/>
            <a:ext cx="1371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A63F37"/>
                </a:solidFill>
                <a:latin typeface="Arial"/>
              </a:rPr>
              <a:t>67.96%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W09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423160"/>
            <a:ext cx="1371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A63F37"/>
                </a:solidFill>
                <a:latin typeface="Arial"/>
              </a:rPr>
              <a:t>67.47%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W03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017520"/>
            <a:ext cx="1371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A63F37"/>
                </a:solidFill>
                <a:latin typeface="Arial"/>
              </a:rPr>
              <a:t>67.44%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1783080"/>
            <a:ext cx="3994265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977639"/>
            <a:ext cx="27432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232323"/>
                </a:solidFill>
                <a:latin typeface="Arial"/>
              </a:rPr>
              <a:t>What this suggests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325112"/>
            <a:ext cx="274320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/>
              <a:t>These warehouses are priority locations for investigation, not necessarily the least efficient. Review dispatch stages, carrier handovers, shipment volume and destination mix to identify possible causes.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486400"/>
            <a:ext cx="1024128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/>
              <a:t>W07 recorded the highest shipment volume (371), but capacity and processing-time data are needed to assess overall warehouse efficiency.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51F7249-1F21-593A-F87B-ECE6115F0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580" y="2066855"/>
            <a:ext cx="3676839" cy="2724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5. Location analysis adds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Lagos has the largest number of delayed shipments, while the delay rates across the three locations are relatively close.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2187244"/>
            <a:ext cx="6273038" cy="2278535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383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Lagos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76272"/>
            <a:ext cx="338328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0">
                <a:solidFill>
                  <a:srgbClr val="373737"/>
                </a:solidFill>
                <a:latin typeface="Arial"/>
              </a:rPr>
              <a:t>1,701 delayed shipments
64.26% delay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063240"/>
            <a:ext cx="3383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Abuja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410712"/>
            <a:ext cx="338328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0">
                <a:solidFill>
                  <a:srgbClr val="373737"/>
                </a:solidFill>
                <a:latin typeface="Arial"/>
              </a:rPr>
              <a:t>849 delayed shipments
63.60% delay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297680"/>
            <a:ext cx="3383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>
                <a:solidFill>
                  <a:srgbClr val="232323"/>
                </a:solidFill>
                <a:latin typeface="Arial"/>
              </a:rPr>
              <a:t>Kano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645152"/>
            <a:ext cx="338328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0">
                <a:solidFill>
                  <a:srgbClr val="373737"/>
                </a:solidFill>
                <a:latin typeface="Arial"/>
              </a:rPr>
              <a:t>636 delayed shipments
62.48% delay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669280"/>
            <a:ext cx="10058400" cy="455509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en-AU" sz="1300" b="0" dirty="0">
                <a:solidFill>
                  <a:srgbClr val="373737"/>
                </a:solidFill>
                <a:latin typeface="Arial"/>
              </a:rPr>
              <a:t>Executive takeaway: </a:t>
            </a:r>
            <a:r>
              <a:rPr lang="en-AU" sz="1300" dirty="0">
                <a:solidFill>
                  <a:srgbClr val="373737"/>
                </a:solidFill>
                <a:latin typeface="Arial"/>
              </a:rPr>
              <a:t>L</a:t>
            </a:r>
            <a:r>
              <a:rPr lang="en-AU" sz="1300" b="0" dirty="0">
                <a:solidFill>
                  <a:srgbClr val="373737"/>
                </a:solidFill>
                <a:latin typeface="Arial"/>
              </a:rPr>
              <a:t>agos should be prioritised because it recorded both the highest delayed-shipment volume and the highest delayed-shipment rate among the locations analysed</a:t>
            </a:r>
            <a:endParaRPr sz="1300" b="0" dirty="0">
              <a:solidFill>
                <a:srgbClr val="373737"/>
              </a:solidFill>
              <a:latin typeface="Arial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D136495-CF31-B1CD-D005-E3E3C8E073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962" y="2308807"/>
            <a:ext cx="2965450" cy="20575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82D2625-18E4-432C-12D4-2C3BB4064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7462" y="2308807"/>
            <a:ext cx="2978303" cy="20575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6. Late delivery is the leading return reason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Returns also point to fulfilment quality issues beyond delivery speed.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8461" y="2315260"/>
            <a:ext cx="2489780" cy="22389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23760" y="1874519"/>
            <a:ext cx="356616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696969"/>
                </a:solidFill>
                <a:latin typeface="Arial"/>
              </a:rPr>
              <a:t>Returns recorded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286000"/>
            <a:ext cx="3566160" cy="3840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200" b="1">
                <a:solidFill>
                  <a:srgbClr val="232323"/>
                </a:solidFill>
                <a:latin typeface="Arial"/>
              </a:rPr>
              <a:t>500 total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880360"/>
            <a:ext cx="3657600" cy="18288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 Late delivery: 185 (37%)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 Wrong item: 163 (32.6%)</a:t>
            </a:r>
          </a:p>
          <a:p>
            <a:pPr>
              <a:spcAft>
                <a:spcPts val="11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 Damaged item: 152 (30.4%)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623560"/>
            <a:ext cx="100584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1">
                <a:solidFill>
                  <a:srgbClr val="232323"/>
                </a:solidFill>
                <a:latin typeface="Arial"/>
              </a:rPr>
              <a:t>Recommendation: review late-delivery cases alongside dispatch records; address wrong-item and damage returns through separate fulfilment checks.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D8E5FD-7786-88D0-299B-8221796E4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066" y="2371670"/>
            <a:ext cx="2330570" cy="21146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7. Customer and product analysis shows where revenue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Revenue patterns can guide further investigation, but they do not establish profitability.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86076"/>
            <a:ext cx="5897880" cy="260554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8040" y="1828800"/>
            <a:ext cx="365760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267712"/>
            <a:ext cx="3749039" cy="1652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500" dirty="0"/>
              <a:t>• Total recorded revenue is about 21.67M.</a:t>
            </a:r>
          </a:p>
          <a:p>
            <a:r>
              <a:rPr sz="1500" dirty="0"/>
              <a:t>• Fashion is the leading category at about </a:t>
            </a:r>
            <a:r>
              <a:rPr lang="en-AU" sz="1500" dirty="0"/>
              <a:t>8.06M</a:t>
            </a:r>
            <a:r>
              <a:rPr sz="1500" dirty="0"/>
              <a:t>.</a:t>
            </a:r>
          </a:p>
          <a:p>
            <a:r>
              <a:rPr sz="1500" dirty="0"/>
              <a:t>• P040 generated about 1</a:t>
            </a:r>
            <a:r>
              <a:rPr lang="en-AU" sz="1500" dirty="0"/>
              <a:t>9</a:t>
            </a:r>
            <a:r>
              <a:rPr sz="1500" dirty="0"/>
              <a:t>1K, the highest among the top products reviewed.</a:t>
            </a:r>
          </a:p>
          <a:p>
            <a:r>
              <a:rPr sz="1500" dirty="0"/>
              <a:t>• The top 10 customers each generated about 57K–74K.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5577840"/>
            <a:ext cx="101498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/>
              <a:t>Business opportunity: evaluate Fashion category expansion, maintain availability of high-revenue products and strengthen retention of high-value customers. Validate profitability and demand before investing.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AA7038-2979-99EA-45B8-B01783313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54" y="2117213"/>
            <a:ext cx="2762392" cy="2343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69BD42-5403-27BA-A433-AAA48E5A7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2220" y="2117214"/>
            <a:ext cx="2868930" cy="2337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8. Inventory findings need to be interpreted carefully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The inventory table is useful for comparing recorded quantities, but it does not confirm current stock on hand.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2006600" y="1783080"/>
            <a:ext cx="4668520" cy="2631509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364991"/>
            <a:ext cx="5440679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696969"/>
                </a:solidFill>
                <a:latin typeface="Arial"/>
              </a:rPr>
              <a:t>Add your recorded stock by warehouse visual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828800"/>
            <a:ext cx="3749039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What the data supports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240280"/>
            <a:ext cx="3749039" cy="12801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 Compare recorded stock quantities by warehouse.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 Compare distinct products represented at each warehouse.</a:t>
            </a:r>
          </a:p>
          <a:p>
            <a:pPr>
              <a:spcAft>
                <a:spcPts val="9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 Use shipment volume and staffing as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840480"/>
            <a:ext cx="3749039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>
                <a:solidFill>
                  <a:srgbClr val="232323"/>
                </a:solidFill>
                <a:latin typeface="Arial"/>
              </a:rPr>
              <a:t>What is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4224528"/>
            <a:ext cx="3749039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 Current stock balances</a:t>
            </a:r>
          </a:p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 Warehouse capacity</a:t>
            </a:r>
          </a:p>
          <a:p>
            <a:pPr>
              <a:spcAft>
                <a:spcPts val="7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 Stockout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5577840"/>
            <a:ext cx="100584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/>
              <a:t>Recommendation: improve stock-movement records and capture current balances and warehouse capacity. Recorded quantities support comparison, but current stock balances and warehouse utilisation cannot be reliably assessed from this dataset.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F8C542-DA2D-FEB4-E4D2-846C72060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127" y="1865376"/>
            <a:ext cx="4730993" cy="2330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400" dirty="0"/>
              <a:t>9.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dirty="0"/>
              <a:t>Three priorities connect operational improvement, commercial growth and better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2743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 dirty="0"/>
              <a:t>Delivery &amp;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38528"/>
            <a:ext cx="71323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/>
              <a:t>• Reduce the 63.72% delayed-shipment rate; investigate W05, W09 and W03.</a:t>
            </a:r>
          </a:p>
          <a:p>
            <a:r>
              <a:rPr sz="1200"/>
              <a:t>• Prioritise Lagos, with 1,701 delayed shipments and a 64.26% delay rate.</a:t>
            </a:r>
          </a:p>
          <a:p>
            <a:r>
              <a:rPr sz="1200"/>
              <a:t>• Reduce wrong-item and damage returns; improve inventory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0" y="2560320"/>
            <a:ext cx="91440" cy="91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232323"/>
                </a:solidFill>
                <a:latin typeface="Arial"/>
              </a:rPr>
              <a:t>2. Review late-delivery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2560320"/>
            <a:ext cx="91440" cy="91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373737"/>
                </a:solidFill>
                <a:latin typeface="Arial"/>
              </a:rPr>
              <a:t>Trace late-delivery cases through order and shipment events to identify where time is being lost.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063240"/>
            <a:ext cx="2743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/>
              <a:t>Revenue &amp; Customer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401568"/>
            <a:ext cx="713232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/>
              <a:t>• Evaluate expansion of Fashion, the leading category at about 8.06M.</a:t>
            </a:r>
          </a:p>
          <a:p>
            <a:r>
              <a:rPr sz="1200"/>
              <a:t>• Protect availability of P040, P085 and P186.</a:t>
            </a:r>
          </a:p>
          <a:p>
            <a:r>
              <a:rPr sz="1200"/>
              <a:t>• Introduce targeted loyalty initiatives for high-value customers.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0" y="4206240"/>
            <a:ext cx="91440" cy="91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400" b="1">
                <a:solidFill>
                  <a:srgbClr val="232323"/>
                </a:solidFill>
                <a:latin typeface="Arial"/>
              </a:rPr>
              <a:t>4. Improve inventory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0" y="4206240"/>
            <a:ext cx="91440" cy="914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373737"/>
                </a:solidFill>
                <a:latin typeface="Arial"/>
              </a:rPr>
              <a:t>Capture current balances, stock movements and warehouse capacity.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526280"/>
            <a:ext cx="2743200" cy="29260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600" b="1"/>
              <a:t>Data &amp;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864608"/>
            <a:ext cx="7132320" cy="9601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/>
              <a:t>• Explore predictive delivery monitoring.</a:t>
            </a:r>
          </a:p>
          <a:p>
            <a:r>
              <a:rPr sz="1200"/>
              <a:t>• Link supplier data to purchasing and receiving records.</a:t>
            </a:r>
          </a:p>
          <a:p>
            <a:r>
              <a:rPr sz="1200"/>
              <a:t>• Capture product-level returns, current stock, warehouse capacity and processing times; monitor KPIs through Power BI.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10. How improvement should be measured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Agree definitions and baselines before setting numeric targets.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828800"/>
            <a:ext cx="1554480" cy="411480"/>
          </a:xfrm>
          <a:prstGeom prst="rect">
            <a:avLst/>
          </a:prstGeom>
          <a:solidFill>
            <a:srgbClr val="DCDC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137160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232323"/>
                </a:solidFill>
                <a:latin typeface="Arial"/>
              </a:rPr>
              <a:t>AREA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828800"/>
            <a:ext cx="3657600" cy="411480"/>
          </a:xfrm>
          <a:prstGeom prst="rect">
            <a:avLst/>
          </a:prstGeom>
          <a:solidFill>
            <a:srgbClr val="DCDC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600" y="1920240"/>
            <a:ext cx="3474720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232323"/>
                </a:solidFill>
                <a:latin typeface="Arial"/>
              </a:rPr>
              <a:t>MEASURE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828800"/>
            <a:ext cx="2194560" cy="411480"/>
          </a:xfrm>
          <a:prstGeom prst="rect">
            <a:avLst/>
          </a:prstGeom>
          <a:solidFill>
            <a:srgbClr val="DCDC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72200" y="1920240"/>
            <a:ext cx="201167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232323"/>
                </a:solidFill>
                <a:latin typeface="Arial"/>
              </a:rPr>
              <a:t>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19" y="1828800"/>
            <a:ext cx="2560320" cy="411480"/>
          </a:xfrm>
          <a:prstGeom prst="rect">
            <a:avLst/>
          </a:prstGeom>
          <a:solidFill>
            <a:srgbClr val="DCDCD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59" y="1920240"/>
            <a:ext cx="2377439" cy="2011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000" b="1">
                <a:solidFill>
                  <a:srgbClr val="232323"/>
                </a:solidFill>
                <a:latin typeface="Arial"/>
              </a:rPr>
              <a:t>DESIRED DIRECTION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240280"/>
            <a:ext cx="1554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368296"/>
            <a:ext cx="13716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1">
                <a:solidFill>
                  <a:srgbClr val="232323"/>
                </a:solidFill>
                <a:latin typeface="Arial"/>
              </a:rPr>
              <a:t>Delivery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2240280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2368296"/>
            <a:ext cx="34747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Delayed-shipment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0" y="2240280"/>
            <a:ext cx="21945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368296"/>
            <a:ext cx="201167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63.72%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75319" y="2240280"/>
            <a:ext cx="2560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66759" y="2368296"/>
            <a:ext cx="237743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Decrease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761488"/>
            <a:ext cx="155448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2889504"/>
            <a:ext cx="13716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1">
                <a:solidFill>
                  <a:srgbClr val="232323"/>
                </a:solidFill>
                <a:latin typeface="Arial"/>
              </a:rPr>
              <a:t>Delivery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2761488"/>
            <a:ext cx="365760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14600" y="2889504"/>
            <a:ext cx="34747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On-time shipment rate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2761488"/>
            <a:ext cx="219456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72200" y="2889504"/>
            <a:ext cx="201167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36.28%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19" y="2761488"/>
            <a:ext cx="256032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59" y="2889504"/>
            <a:ext cx="237743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Increase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3282696"/>
            <a:ext cx="1554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3410712"/>
            <a:ext cx="13716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1">
                <a:solidFill>
                  <a:srgbClr val="232323"/>
                </a:solidFill>
                <a:latin typeface="Arial"/>
              </a:rPr>
              <a:t>Speed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23160" y="3282696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514600" y="3410712"/>
            <a:ext cx="34747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Average recorded delay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3282696"/>
            <a:ext cx="21945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72200" y="3410712"/>
            <a:ext cx="201167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3.57 days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282696"/>
            <a:ext cx="2560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66759" y="3410712"/>
            <a:ext cx="237743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Decrease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3803904"/>
            <a:ext cx="155448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" y="3931920"/>
            <a:ext cx="13716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1">
                <a:solidFill>
                  <a:srgbClr val="232323"/>
                </a:solidFill>
                <a:latin typeface="Arial"/>
              </a:rPr>
              <a:t>Returns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23160" y="3803904"/>
            <a:ext cx="365760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514600" y="3931920"/>
            <a:ext cx="34747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Late-delivery returns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3803904"/>
            <a:ext cx="219456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172200" y="3931920"/>
            <a:ext cx="201167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185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19" y="3803904"/>
            <a:ext cx="256032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366759" y="3931920"/>
            <a:ext cx="237743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Decrease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8680" y="4325112"/>
            <a:ext cx="155448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0120" y="4453128"/>
            <a:ext cx="13716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1">
                <a:solidFill>
                  <a:srgbClr val="232323"/>
                </a:solidFill>
                <a:latin typeface="Arial"/>
              </a:rPr>
              <a:t>Fulfilment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23160" y="4325112"/>
            <a:ext cx="365760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14600" y="4453128"/>
            <a:ext cx="34747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Wrong-item / damaged returns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4325112"/>
            <a:ext cx="219456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72200" y="4453128"/>
            <a:ext cx="201167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163 / 152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19" y="4325112"/>
            <a:ext cx="2560320" cy="521207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66759" y="4453128"/>
            <a:ext cx="237743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Decrease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" y="4846320"/>
            <a:ext cx="155448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60120" y="4974336"/>
            <a:ext cx="137160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1">
                <a:solidFill>
                  <a:srgbClr val="232323"/>
                </a:solidFill>
                <a:latin typeface="Arial"/>
              </a:rPr>
              <a:t>Inventory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23160" y="4846320"/>
            <a:ext cx="365760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514600" y="4974336"/>
            <a:ext cx="3474720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Stock accuracy / stockout rate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80760" y="4846320"/>
            <a:ext cx="219456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72200" y="4974336"/>
            <a:ext cx="201167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Not available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75319" y="4846320"/>
            <a:ext cx="2560320" cy="521207"/>
          </a:xfrm>
          <a:prstGeom prst="rect">
            <a:avLst/>
          </a:prstGeom>
          <a:solidFill>
            <a:srgbClr val="F7F7F7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366759" y="4974336"/>
            <a:ext cx="2377439" cy="246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100" b="0">
                <a:solidFill>
                  <a:srgbClr val="232323"/>
                </a:solidFill>
                <a:latin typeface="Arial"/>
              </a:rPr>
              <a:t>Establish baseline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6112" y="5715000"/>
            <a:ext cx="10058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/>
              <a:t>Add repeat purchase rate and Fashion revenue to monitor customer retention and category growth. Review measures regularly and compare like-for-like periods as more time-series data becomes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11. Assumptions and data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These limitations affect which conclusions can be made from the current data.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783080"/>
            <a:ext cx="10058400" cy="40233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 Supplier data is standalone, so supplier performance cannot be reliably ranked against deliveries or products.</a:t>
            </a:r>
          </a:p>
          <a:p>
            <a:pPr>
              <a:spcAft>
                <a:spcPts val="14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 Warehouse capacity is not supplied; stock and staffing comparisons are not capacity-utilisation measures.</a:t>
            </a:r>
          </a:p>
          <a:p>
            <a:pPr>
              <a:spcAft>
                <a:spcPts val="14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 Returns have OrderID but no ProductID, so item-level return attribution is not reliable for multi-item orders.</a:t>
            </a:r>
          </a:p>
          <a:p>
            <a:pPr>
              <a:spcAft>
                <a:spcPts val="14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 Currency, product costs and margins are absent; revenue should not be described as profit.</a:t>
            </a:r>
          </a:p>
          <a:p>
            <a:pPr>
              <a:spcAft>
                <a:spcPts val="14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 The status-based delayed-shipment rate differs from the proportion of shipments with positive DelayDays.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806440"/>
            <a:ext cx="10058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300" b="1">
                <a:solidFill>
                  <a:srgbClr val="2F5B7D"/>
                </a:solidFill>
                <a:latin typeface="Arial"/>
              </a:rPr>
              <a:t>These gaps should guide future data collection and the next version of the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47472"/>
            <a:ext cx="10972800" cy="4572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2500" b="1">
                <a:solidFill>
                  <a:srgbClr val="232323"/>
                </a:solidFill>
                <a:latin typeface="Arial"/>
              </a:rPr>
              <a:t>12.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868680"/>
            <a:ext cx="1078992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 b="0">
                <a:solidFill>
                  <a:srgbClr val="696969"/>
                </a:solidFill>
                <a:latin typeface="Arial"/>
              </a:rPr>
              <a:t>The analysis provides a starting point for operational improvement.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881360" cy="10972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32004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96969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874519"/>
            <a:ext cx="987552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800"/>
              <a:t>The analysis indicates that delivery reliability is SwiftLog’s most urgent operational issue, while customer retention and category expansion represent the strongest commercial opportunities.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246120"/>
            <a:ext cx="98755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500" b="1"/>
              <a:t>The next steps are 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03320"/>
            <a:ext cx="9875520" cy="15544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600"/>
              <a:t>• Improve delivery reliability.</a:t>
            </a:r>
          </a:p>
          <a:p>
            <a:r>
              <a:rPr sz="1600"/>
              <a:t>• Grow revenue and retain customers.</a:t>
            </a:r>
          </a:p>
          <a:p>
            <a:r>
              <a:rPr sz="1600"/>
              <a:t>• Strengthen operational visibility.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989320"/>
            <a:ext cx="987552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1200"/>
              <a:t>These are expected benefits rather than guaranteed outcomes.</a:t>
            </a:r>
          </a:p>
          <a:p>
            <a:r>
              <a:rPr sz="1200"/>
              <a:t>SwiftLog Logistics Analytics &amp; Business Intelligence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1242</Words>
  <Application>Microsoft Office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Hajarat Akande</dc:creator>
  <cp:keywords/>
  <dc:description>generated using python-pptx</dc:description>
  <cp:lastModifiedBy>Hajarat Akande</cp:lastModifiedBy>
  <cp:revision>5</cp:revision>
  <dcterms:created xsi:type="dcterms:W3CDTF">2013-01-27T09:14:16Z</dcterms:created>
  <dcterms:modified xsi:type="dcterms:W3CDTF">2026-10-20T09:56:30Z</dcterms:modified>
  <cp:category/>
</cp:coreProperties>
</file>